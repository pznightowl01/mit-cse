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8288000" cy="10287000"/>
  <p:notesSz cx="6858000" cy="9144000"/>
  <p:embeddedFontLst>
    <p:embeddedFont>
      <p:font typeface="Telegraf" panose="020B0604020202020204" charset="0"/>
      <p:regular r:id="rId32"/>
    </p:embeddedFont>
    <p:embeddedFont>
      <p:font typeface="Telegraf Bold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7191375" cy="8953500"/>
            <a:chOff x="0" y="0"/>
            <a:chExt cx="928643" cy="1156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28643" cy="1156192"/>
            </a:xfrm>
            <a:custGeom>
              <a:avLst/>
              <a:gdLst/>
              <a:ahLst/>
              <a:cxnLst/>
              <a:rect l="l" t="t" r="r" b="b"/>
              <a:pathLst>
                <a:path w="928643" h="1156192">
                  <a:moveTo>
                    <a:pt x="37679" y="0"/>
                  </a:moveTo>
                  <a:lnTo>
                    <a:pt x="890964" y="0"/>
                  </a:lnTo>
                  <a:cubicBezTo>
                    <a:pt x="900957" y="0"/>
                    <a:pt x="910541" y="3970"/>
                    <a:pt x="917607" y="11036"/>
                  </a:cubicBezTo>
                  <a:cubicBezTo>
                    <a:pt x="924673" y="18102"/>
                    <a:pt x="928643" y="27686"/>
                    <a:pt x="928643" y="37679"/>
                  </a:cubicBezTo>
                  <a:lnTo>
                    <a:pt x="928643" y="1118512"/>
                  </a:lnTo>
                  <a:cubicBezTo>
                    <a:pt x="928643" y="1139322"/>
                    <a:pt x="911774" y="1156192"/>
                    <a:pt x="890964" y="1156192"/>
                  </a:cubicBezTo>
                  <a:lnTo>
                    <a:pt x="37679" y="1156192"/>
                  </a:lnTo>
                  <a:cubicBezTo>
                    <a:pt x="16870" y="1156192"/>
                    <a:pt x="0" y="1139322"/>
                    <a:pt x="0" y="1118512"/>
                  </a:cubicBezTo>
                  <a:lnTo>
                    <a:pt x="0" y="37679"/>
                  </a:lnTo>
                  <a:cubicBezTo>
                    <a:pt x="0" y="16870"/>
                    <a:pt x="16870" y="0"/>
                    <a:pt x="37679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3524250"/>
            <a:chOff x="0" y="0"/>
            <a:chExt cx="11099800" cy="4699000"/>
          </a:xfrm>
        </p:grpSpPr>
        <p:sp>
          <p:nvSpPr>
            <p:cNvPr id="8" name="TextBox 8"/>
            <p:cNvSpPr txBox="1"/>
            <p:nvPr/>
          </p:nvSpPr>
          <p:spPr>
            <a:xfrm>
              <a:off x="0" y="1174750"/>
              <a:ext cx="11099800" cy="35242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900"/>
                </a:lnSpc>
              </a:pPr>
              <a:r>
                <a:rPr lang="en-US" sz="9000" b="1" spc="-8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Food Delivery System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1099800" cy="606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99"/>
                </a:lnSpc>
              </a:pPr>
              <a:r>
                <a:rPr lang="en-US" sz="2999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Welcome to PORTKEY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9144000"/>
            <a:ext cx="8324850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00"/>
              </a:lnSpc>
            </a:pPr>
            <a:r>
              <a:rPr lang="en-US" sz="3000" spc="-3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Presented by the PORTKEY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6886575" cy="8058150"/>
            <a:chOff x="0" y="0"/>
            <a:chExt cx="81382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3829" cy="952281"/>
            </a:xfrm>
            <a:custGeom>
              <a:avLst/>
              <a:gdLst/>
              <a:ahLst/>
              <a:cxnLst/>
              <a:rect l="l" t="t" r="r" b="b"/>
              <a:pathLst>
                <a:path w="813829" h="952281">
                  <a:moveTo>
                    <a:pt x="39347" y="0"/>
                  </a:moveTo>
                  <a:lnTo>
                    <a:pt x="774482" y="0"/>
                  </a:lnTo>
                  <a:cubicBezTo>
                    <a:pt x="796213" y="0"/>
                    <a:pt x="813829" y="17616"/>
                    <a:pt x="813829" y="39347"/>
                  </a:cubicBezTo>
                  <a:lnTo>
                    <a:pt x="813829" y="912934"/>
                  </a:lnTo>
                  <a:cubicBezTo>
                    <a:pt x="813829" y="934665"/>
                    <a:pt x="796213" y="952281"/>
                    <a:pt x="774482" y="952281"/>
                  </a:cubicBezTo>
                  <a:lnTo>
                    <a:pt x="39347" y="952281"/>
                  </a:lnTo>
                  <a:cubicBezTo>
                    <a:pt x="17616" y="952281"/>
                    <a:pt x="0" y="934665"/>
                    <a:pt x="0" y="912934"/>
                  </a:cubicBezTo>
                  <a:lnTo>
                    <a:pt x="0" y="39347"/>
                  </a:lnTo>
                  <a:cubicBezTo>
                    <a:pt x="0" y="17616"/>
                    <a:pt x="17616" y="0"/>
                    <a:pt x="39347" y="0"/>
                  </a:cubicBezTo>
                  <a:close/>
                </a:path>
              </a:pathLst>
            </a:custGeom>
            <a:blipFill>
              <a:blip r:embed="rId2"/>
              <a:stretch>
                <a:fillRect t="-197" b="-19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96400" y="666750"/>
            <a:ext cx="8324850" cy="4331876"/>
            <a:chOff x="0" y="0"/>
            <a:chExt cx="11099800" cy="5775835"/>
          </a:xfrm>
        </p:grpSpPr>
        <p:sp>
          <p:nvSpPr>
            <p:cNvPr id="8" name="TextBox 8"/>
            <p:cNvSpPr txBox="1"/>
            <p:nvPr/>
          </p:nvSpPr>
          <p:spPr>
            <a:xfrm>
              <a:off x="0" y="4357669"/>
              <a:ext cx="11099800" cy="14181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Many users face challenges with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manual ordering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, limited payment options, and a lack of tracking capabilities, leading to frustration and dissatisfaction with current food delivery systems.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35623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Difficulty in Ordering and Tracking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Current Delivery Challenges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6509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IN DELIVERY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696276" y="383904"/>
            <a:ext cx="8356805" cy="3925105"/>
            <a:chOff x="-7466832" y="-377128"/>
            <a:chExt cx="11142407" cy="5233473"/>
          </a:xfrm>
        </p:grpSpPr>
        <p:sp>
          <p:nvSpPr>
            <p:cNvPr id="8" name="TextBox 8"/>
            <p:cNvSpPr txBox="1"/>
            <p:nvPr/>
          </p:nvSpPr>
          <p:spPr>
            <a:xfrm>
              <a:off x="-7424225" y="3438180"/>
              <a:ext cx="11099800" cy="14181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PORTKEY connects you to </a:t>
              </a:r>
              <a:r>
                <a:rPr lang="en-US" sz="2000" b="1" spc="-20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local restaurants</a:t>
              </a:r>
              <a:r>
                <a:rPr lang="en-US" sz="2000" spc="-20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for a seamless food delivery experience, featuring an intuitive interface, secure payments, and AI support, all tailored for your convenience and satisfaction.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7427503" y="2427747"/>
              <a:ext cx="11099800" cy="6286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Your Connection to Local Flavors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7466832" y="-377128"/>
              <a:ext cx="11099800" cy="27188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PORTKEY Overview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6509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7EAF36-162C-6445-61FC-8BF7A94BC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570" y="4906588"/>
            <a:ext cx="14857451" cy="3894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Explore the architecture and technology stack utilized.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System Design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ARCHITECTURE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448300" cy="3460713"/>
            <a:chOff x="0" y="0"/>
            <a:chExt cx="7264400" cy="4614284"/>
          </a:xfrm>
        </p:grpSpPr>
        <p:sp>
          <p:nvSpPr>
            <p:cNvPr id="3" name="TextBox 3"/>
            <p:cNvSpPr txBox="1"/>
            <p:nvPr/>
          </p:nvSpPr>
          <p:spPr>
            <a:xfrm>
              <a:off x="0" y="3426834"/>
              <a:ext cx="72644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Frontend and Backend Overview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Technology Stack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666750"/>
            <a:ext cx="5448300" cy="8058150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666750"/>
            <a:ext cx="5448300" cy="8058150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6509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448300" cy="3460713"/>
            <a:chOff x="0" y="0"/>
            <a:chExt cx="7264400" cy="4614284"/>
          </a:xfrm>
        </p:grpSpPr>
        <p:sp>
          <p:nvSpPr>
            <p:cNvPr id="3" name="TextBox 3"/>
            <p:cNvSpPr txBox="1"/>
            <p:nvPr/>
          </p:nvSpPr>
          <p:spPr>
            <a:xfrm>
              <a:off x="0" y="3426834"/>
              <a:ext cx="72644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Overview of Key Application Entities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Database Models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666750"/>
            <a:ext cx="5448300" cy="8058150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666750"/>
            <a:ext cx="5448300" cy="8058150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6509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RELATIONSHIPS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System 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Overview of Components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617364"/>
            <a:chOff x="0" y="0"/>
            <a:chExt cx="7199298" cy="21564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Flask Backend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Flask backend processes user requests, ensuring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smooth operation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and managing interactions with the database and AI features.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User Interface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UI serves as the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primary interaction point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, allowing users to browse, select, and order food efficiently.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617345"/>
            <a:chOff x="0" y="0"/>
            <a:chExt cx="7264400" cy="2156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Database Management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database framework supports structured data storage, enabling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reliable information retrieval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for users and restaurants alike.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Highlighting AI chatbot and user management functionalities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Core Features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FUNCTIONALITY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302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Management 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637972"/>
            <a:chOff x="0" y="0"/>
            <a:chExt cx="11099800" cy="2183963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Registration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57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system allows users to </a:t>
              </a:r>
              <a:r>
                <a:rPr lang="en-US" sz="2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easily register</a:t>
              </a: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using email, ensuring a secure and straightforward onboarding process while capturing essential user information for personalized experiences.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2903617"/>
            <a:ext cx="8324850" cy="1637972"/>
            <a:chOff x="0" y="0"/>
            <a:chExt cx="11099800" cy="2183963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Authentication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657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Robust authentication mechanisms prevent unauthorized access, protecting user data through secure login processes, including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multi-factor authentication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options to enhance overall security.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5140484"/>
            <a:ext cx="8324850" cy="1637972"/>
            <a:chOff x="0" y="0"/>
            <a:chExt cx="11099800" cy="21839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Profile Management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57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Users can seamlessly manage their profiles, update personal details, and customize preferences, ensuring a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tailored experience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that meets their unique ordering needs and preferences.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377351"/>
            <a:ext cx="8324850" cy="1637972"/>
            <a:chOff x="0" y="0"/>
            <a:chExt cx="11099800" cy="218396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47625"/>
              <a:ext cx="11099800" cy="6572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Security Measures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657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Implementing strong security protocols, including encryption and data protection strategies, ensures user information remains </a:t>
              </a:r>
              <a:r>
                <a:rPr lang="en-US" sz="2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confidential and secure</a:t>
              </a: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while maintaining compliance with industry standards.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Restaurant Browsing Ideas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627971"/>
            <a:chOff x="0" y="0"/>
            <a:chExt cx="11099800" cy="2170628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Search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Users can easily </a:t>
              </a:r>
              <a:r>
                <a:rPr lang="en-US" sz="2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search for restaurants</a:t>
              </a: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by name, cuisine type, or location, enhancing their experience and allowing for quick and efficient discovery of dining options available in their area.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2903617"/>
            <a:ext cx="8324850" cy="1627971"/>
            <a:chOff x="0" y="0"/>
            <a:chExt cx="11099800" cy="2170628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Filtering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filtering feature enables users to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narrow down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their choices based on preferences such as ratings, price range, or dietary options, making it easier to find suitable eateries that meet their needs.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5140484"/>
            <a:ext cx="8324850" cy="1627971"/>
            <a:chOff x="0" y="0"/>
            <a:chExt cx="11099800" cy="217062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Detailed Information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Each restaurant listing provides </a:t>
              </a:r>
              <a:r>
                <a:rPr lang="en-US" sz="2000" b="1" spc="-2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detailed information</a:t>
              </a: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, including menus, reviews, photos, and contact information, to help users make informed choices about where to order their next meal effectively.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377351"/>
            <a:ext cx="8324850" cy="1980872"/>
            <a:chOff x="0" y="0"/>
            <a:chExt cx="11099800" cy="264116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1099800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Recommendations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3096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Personalized recommendations are generated based on </a:t>
              </a:r>
              <a:r>
                <a:rPr lang="en-US" sz="2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user preferences</a:t>
              </a: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and past orders, ensuring a more tailored experience that encourages exploration of new restaurants and cuisines within the platform.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&amp; 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3022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Order Management 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980396"/>
            <a:chOff x="0" y="0"/>
            <a:chExt cx="11099800" cy="2640528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Cart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61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cart feature allows users to add selected items, view their total, and modify quantities. This intuitive interface enhances user experience during their ordering process and supports seamless navigation.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2903617"/>
            <a:ext cx="8324850" cy="1627971"/>
            <a:chOff x="0" y="0"/>
            <a:chExt cx="11099800" cy="2170628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Stock Validation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61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Stock validation ensures that only available items can be added to the cart. This prevents order errors and enhances customer satisfaction by maintaining accurate inventory levels throughout the ordering process.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5140484"/>
            <a:ext cx="8324850" cy="1980396"/>
            <a:chOff x="0" y="0"/>
            <a:chExt cx="11099800" cy="264052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Price Calculation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61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system automatically calculates the total price based on selected items, including taxes and discounts. This feature provides users with transparent pricing, avoiding surprises at checkout and improving overall trust.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377351"/>
            <a:ext cx="8324850" cy="1628447"/>
            <a:chOff x="0" y="0"/>
            <a:chExt cx="11099800" cy="217126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1099800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Order Placement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30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Users can confirm their orders with a simple click. This process includes payment options and order summaries, making it efficient and user-friendly while ensuring a secure transition to completion.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FEATURES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Highlighting service locations in Manipal and Mangalore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Delivery Area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COVERAGE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Coverage &amp; Workflow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637972"/>
            <a:chOff x="0" y="0"/>
            <a:chExt cx="11099800" cy="2183963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Restaurants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57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PORTKEY connects users to </a:t>
              </a:r>
              <a:r>
                <a:rPr lang="en-US" sz="2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10 local restaurants</a:t>
              </a: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in Manipal and Mangalore, providing diverse culinary options. Diners can explore various cuisines and special dishes from their favorite eateries.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65594"/>
            <a:ext cx="8324850" cy="1990397"/>
            <a:chOff x="0" y="0"/>
            <a:chExt cx="11099800" cy="2653863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Discovery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65796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Users can easily </a:t>
              </a:r>
              <a:r>
                <a:rPr lang="en-US" sz="2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discover restaurants</a:t>
              </a: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through an intuitive interface, utilizing search and filter functionalities. This ensures a seamless browsing experience and enables customers to find their ideal meal quickly.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6038850"/>
            <a:ext cx="8324850" cy="1637972"/>
            <a:chOff x="0" y="0"/>
            <a:chExt cx="11099800" cy="21839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Checkout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57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checkout process is designed for </a:t>
              </a:r>
              <a:r>
                <a:rPr lang="en-US" sz="2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efficiency and security</a:t>
              </a: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, allowing users to review their orders, select payment options, and receive instant confirmations for a hassle-free experience.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SUMMARY POINTS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44089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6886575" cy="2571392"/>
            <a:chOff x="0" y="0"/>
            <a:chExt cx="9182100" cy="3428523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2718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Customer Journey Map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799873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Visualizing User Experience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4248076"/>
            <a:ext cx="5399474" cy="1617364"/>
            <a:chOff x="0" y="0"/>
            <a:chExt cx="7199298" cy="2156485"/>
          </a:xfrm>
        </p:grpSpPr>
        <p:sp>
          <p:nvSpPr>
            <p:cNvPr id="6" name="TextBox 6"/>
            <p:cNvSpPr txBox="1"/>
            <p:nvPr/>
          </p:nvSpPr>
          <p:spPr>
            <a:xfrm>
              <a:off x="0" y="-19050"/>
              <a:ext cx="7199298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Application Browsing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38318"/>
              <a:ext cx="7199298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customer explores various restaurants and meal options, enhancing their experience with filters and search functions.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8125" y="1562100"/>
            <a:ext cx="2571750" cy="1790700"/>
            <a:chOff x="0" y="0"/>
            <a:chExt cx="116731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7319" cy="812800"/>
            </a:xfrm>
            <a:custGeom>
              <a:avLst/>
              <a:gdLst/>
              <a:ahLst/>
              <a:cxnLst/>
              <a:rect l="l" t="t" r="r" b="b"/>
              <a:pathLst>
                <a:path w="1167319" h="812800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61"/>
                  </a:lnTo>
                  <a:cubicBezTo>
                    <a:pt x="1167319" y="761925"/>
                    <a:pt x="1160024" y="779536"/>
                    <a:pt x="1147040" y="792521"/>
                  </a:cubicBezTo>
                  <a:cubicBezTo>
                    <a:pt x="1134055" y="805505"/>
                    <a:pt x="1116444" y="812800"/>
                    <a:pt x="1098081" y="812800"/>
                  </a:cubicBezTo>
                  <a:lnTo>
                    <a:pt x="69239" y="812800"/>
                  </a:lnTo>
                  <a:cubicBezTo>
                    <a:pt x="50875" y="812800"/>
                    <a:pt x="33264" y="805505"/>
                    <a:pt x="20279" y="792521"/>
                  </a:cubicBezTo>
                  <a:cubicBezTo>
                    <a:pt x="7295" y="779536"/>
                    <a:pt x="0" y="761925"/>
                    <a:pt x="0" y="743561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2"/>
              <a:stretch>
                <a:fillRect l="-365" r="-3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34675" y="1562100"/>
            <a:ext cx="5448300" cy="1617364"/>
            <a:chOff x="0" y="0"/>
            <a:chExt cx="7264400" cy="2156485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User Discovery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738318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Users typically begin their journey by discovering the PORTKEY platform through ads or recommendations online.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34675" y="6932307"/>
            <a:ext cx="5448300" cy="1617345"/>
            <a:chOff x="0" y="0"/>
            <a:chExt cx="7264400" cy="215646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9050"/>
              <a:ext cx="72644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Order Checkout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8293"/>
              <a:ext cx="72644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Upon selecting items, users proceed to checkout, where secure payment options ensure a smooth transaction process.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858125" y="4248076"/>
            <a:ext cx="2571750" cy="1790774"/>
            <a:chOff x="0" y="0"/>
            <a:chExt cx="1167319" cy="8128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3"/>
              <a:stretch>
                <a:fillRect l="-367" r="-3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858125" y="6934126"/>
            <a:ext cx="2571750" cy="1790774"/>
            <a:chOff x="0" y="0"/>
            <a:chExt cx="1167319" cy="81283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67319" cy="812834"/>
            </a:xfrm>
            <a:custGeom>
              <a:avLst/>
              <a:gdLst/>
              <a:ahLst/>
              <a:cxnLst/>
              <a:rect l="l" t="t" r="r" b="b"/>
              <a:pathLst>
                <a:path w="1167319" h="812834">
                  <a:moveTo>
                    <a:pt x="69239" y="0"/>
                  </a:moveTo>
                  <a:lnTo>
                    <a:pt x="1098081" y="0"/>
                  </a:lnTo>
                  <a:cubicBezTo>
                    <a:pt x="1136320" y="0"/>
                    <a:pt x="1167319" y="30999"/>
                    <a:pt x="1167319" y="69239"/>
                  </a:cubicBezTo>
                  <a:lnTo>
                    <a:pt x="1167319" y="743595"/>
                  </a:lnTo>
                  <a:cubicBezTo>
                    <a:pt x="1167319" y="761958"/>
                    <a:pt x="1160024" y="779570"/>
                    <a:pt x="1147040" y="792554"/>
                  </a:cubicBezTo>
                  <a:cubicBezTo>
                    <a:pt x="1134055" y="805539"/>
                    <a:pt x="1116444" y="812834"/>
                    <a:pt x="1098081" y="812834"/>
                  </a:cubicBezTo>
                  <a:lnTo>
                    <a:pt x="69239" y="812834"/>
                  </a:lnTo>
                  <a:cubicBezTo>
                    <a:pt x="50875" y="812834"/>
                    <a:pt x="33264" y="805539"/>
                    <a:pt x="20279" y="792554"/>
                  </a:cubicBezTo>
                  <a:cubicBezTo>
                    <a:pt x="7295" y="779570"/>
                    <a:pt x="0" y="761958"/>
                    <a:pt x="0" y="743595"/>
                  </a:cubicBezTo>
                  <a:lnTo>
                    <a:pt x="0" y="69239"/>
                  </a:lnTo>
                  <a:cubicBezTo>
                    <a:pt x="0" y="50875"/>
                    <a:pt x="7295" y="33264"/>
                    <a:pt x="20279" y="20279"/>
                  </a:cubicBezTo>
                  <a:cubicBezTo>
                    <a:pt x="33264" y="7295"/>
                    <a:pt x="50875" y="0"/>
                    <a:pt x="69239" y="0"/>
                  </a:cubicBezTo>
                  <a:close/>
                </a:path>
              </a:pathLst>
            </a:custGeom>
            <a:blipFill>
              <a:blip r:embed="rId4"/>
              <a:stretch>
                <a:fillRect l="-367" r="-36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&amp; INSIGHTS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432103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261493"/>
            <a:ext cx="11201400" cy="2317371"/>
            <a:chOff x="0" y="-924265"/>
            <a:chExt cx="14935200" cy="308982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66994"/>
              <a:ext cx="14935200" cy="398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2"/>
                </a:lnSpc>
              </a:pPr>
              <a:r>
                <a:rPr lang="en-US" sz="1975" u="none" strike="noStrike" spc="-19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Exploring backend security and performance metrics.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24265"/>
              <a:ext cx="14935200" cy="1418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03"/>
                </a:lnSpc>
              </a:pPr>
              <a:r>
                <a:rPr lang="en-US" sz="6912" b="1" spc="-69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Technical Implementation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FOR IMPLEMENTATION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Backend Security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3352800"/>
            <a:ext cx="6867355" cy="2168506"/>
            <a:chOff x="0" y="0"/>
            <a:chExt cx="9156474" cy="2891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15647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Authentication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3275"/>
              <a:ext cx="91564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Robust user authentication utilizes </a:t>
              </a:r>
              <a:r>
                <a:rPr lang="en-US" sz="2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SHA-256 hashing</a:t>
              </a: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for secure password storage, ensuring sensitive data remains protected during login and session management across the PORTKEY platform.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52800"/>
            <a:ext cx="6886575" cy="2168506"/>
            <a:chOff x="0" y="0"/>
            <a:chExt cx="9182100" cy="28913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Cart Operations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Efficient cart operations manage user sessions, allowing seamless </a:t>
              </a:r>
              <a:r>
                <a:rPr lang="en-US" sz="2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item additions</a:t>
              </a: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and removals while maintaining accurate </a:t>
              </a:r>
              <a:r>
                <a:rPr lang="en-US" sz="2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price calculations</a:t>
              </a: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and stock validations throughout the ordering process.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Payment Processing Ideas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3352800"/>
            <a:ext cx="6867355" cy="2168506"/>
            <a:chOff x="0" y="0"/>
            <a:chExt cx="9156474" cy="2891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15647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Input Validation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3275"/>
              <a:ext cx="91564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Input validation ensures that user data is checked and sanitized, preventing malicious entries and enhancing security by minimizing potential vulnerabilities before processing any payment.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52800"/>
            <a:ext cx="6886575" cy="2168506"/>
            <a:chOff x="0" y="0"/>
            <a:chExt cx="9182100" cy="28913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Multi-Method Payments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Multi-method payment processing allows users to select from various payment options, ensuring convenience and flexibility while adhering to PCI DSS compliance for secure transactions and digital receipts.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TAKEAWAYS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43300" y="6952607"/>
            <a:ext cx="6886575" cy="963515"/>
            <a:chOff x="0" y="0"/>
            <a:chExt cx="9182100" cy="1284687"/>
          </a:xfrm>
        </p:grpSpPr>
        <p:sp>
          <p:nvSpPr>
            <p:cNvPr id="3" name="TextBox 3"/>
            <p:cNvSpPr txBox="1"/>
            <p:nvPr/>
          </p:nvSpPr>
          <p:spPr>
            <a:xfrm>
              <a:off x="0" y="-9525"/>
              <a:ext cx="9182100" cy="5230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32"/>
                </a:lnSpc>
              </a:pPr>
              <a:r>
                <a:rPr lang="en-US" sz="2574" b="1" spc="-25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Average Page Load Time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806320"/>
              <a:ext cx="9182100" cy="478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Users experience fast loading with under three seconds flat.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6952607"/>
            <a:ext cx="6886575" cy="1315940"/>
            <a:chOff x="0" y="0"/>
            <a:chExt cx="9182100" cy="1754587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5230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32"/>
                </a:lnSpc>
              </a:pPr>
              <a:r>
                <a:rPr lang="en-US" sz="2574" b="1" spc="-25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Concurrent User Capacity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806320"/>
              <a:ext cx="9182100" cy="948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System efficiently handles over a thousand simultaneous users.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829175" y="1724025"/>
            <a:ext cx="4314825" cy="431482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51325" y="3284696"/>
            <a:ext cx="3178462" cy="118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7"/>
              </a:lnSpc>
            </a:pPr>
            <a:r>
              <a:rPr lang="en-US" sz="7725" b="1" spc="-7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&lt; 3s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2020550" y="1724055"/>
            <a:ext cx="4314825" cy="4314765"/>
            <a:chOff x="0" y="0"/>
            <a:chExt cx="812800" cy="81278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789"/>
            </a:xfrm>
            <a:custGeom>
              <a:avLst/>
              <a:gdLst/>
              <a:ahLst/>
              <a:cxnLst/>
              <a:rect l="l" t="t" r="r" b="b"/>
              <a:pathLst>
                <a:path w="812800" h="812789">
                  <a:moveTo>
                    <a:pt x="406400" y="0"/>
                  </a:moveTo>
                  <a:cubicBezTo>
                    <a:pt x="181951" y="0"/>
                    <a:pt x="0" y="181949"/>
                    <a:pt x="0" y="406394"/>
                  </a:cubicBezTo>
                  <a:cubicBezTo>
                    <a:pt x="0" y="630840"/>
                    <a:pt x="181951" y="812789"/>
                    <a:pt x="406400" y="812789"/>
                  </a:cubicBezTo>
                  <a:cubicBezTo>
                    <a:pt x="630849" y="812789"/>
                    <a:pt x="812800" y="630840"/>
                    <a:pt x="812800" y="406394"/>
                  </a:cubicBezTo>
                  <a:cubicBezTo>
                    <a:pt x="812800" y="18194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66674"/>
              <a:ext cx="660400" cy="669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41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2648730" y="3284696"/>
            <a:ext cx="3150528" cy="118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97"/>
              </a:lnSpc>
            </a:pPr>
            <a:r>
              <a:rPr lang="en-US" sz="7725" b="1" u="none" strike="noStrike" spc="-77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1000+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0" y="0"/>
            <a:ext cx="3238500" cy="10287000"/>
            <a:chOff x="0" y="0"/>
            <a:chExt cx="852938" cy="270933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6509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PERFORMANCE METRICS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410929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261493"/>
            <a:ext cx="11201400" cy="2317371"/>
            <a:chOff x="0" y="-924265"/>
            <a:chExt cx="14935200" cy="308982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66994"/>
              <a:ext cx="14935200" cy="398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2"/>
                </a:lnSpc>
              </a:pPr>
              <a:r>
                <a:rPr lang="en-US" sz="1975" u="none" strike="noStrike" spc="-19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Focused on </a:t>
              </a:r>
              <a:r>
                <a:rPr lang="en-US" sz="1975" b="1" u="none" strike="noStrike" spc="-1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accessible</a:t>
              </a:r>
              <a:r>
                <a:rPr lang="en-US" sz="1975" u="none" strike="noStrike" spc="-19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, intuitive user experience design.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24265"/>
              <a:ext cx="14935200" cy="1418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03"/>
                </a:lnSpc>
              </a:pPr>
              <a:r>
                <a:rPr lang="en-US" sz="6912" b="1" spc="-69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UI Design &amp; Requirements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ON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5448300" cy="2489163"/>
            <a:chOff x="0" y="0"/>
            <a:chExt cx="7264400" cy="3318884"/>
          </a:xfrm>
        </p:grpSpPr>
        <p:sp>
          <p:nvSpPr>
            <p:cNvPr id="3" name="TextBox 3"/>
            <p:cNvSpPr txBox="1"/>
            <p:nvPr/>
          </p:nvSpPr>
          <p:spPr>
            <a:xfrm>
              <a:off x="0" y="2131434"/>
              <a:ext cx="7264400" cy="11874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Responsive, Accessible, and Intuitive Design Principles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72644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UI Design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666750"/>
            <a:ext cx="5448300" cy="8058150"/>
            <a:chOff x="0" y="0"/>
            <a:chExt cx="643859" cy="9522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t="-176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049500" y="0"/>
            <a:ext cx="3238500" cy="10287000"/>
            <a:chOff x="0" y="0"/>
            <a:chExt cx="852938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2938" cy="2709333"/>
            </a:xfrm>
            <a:custGeom>
              <a:avLst/>
              <a:gdLst/>
              <a:ahLst/>
              <a:cxnLst/>
              <a:rect l="l" t="t" r="r" b="b"/>
              <a:pathLst>
                <a:path w="852938" h="2709333">
                  <a:moveTo>
                    <a:pt x="0" y="0"/>
                  </a:moveTo>
                  <a:lnTo>
                    <a:pt x="852938" y="0"/>
                  </a:lnTo>
                  <a:lnTo>
                    <a:pt x="8529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852938" cy="2785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172950" y="666750"/>
            <a:ext cx="5448300" cy="8058150"/>
            <a:chOff x="0" y="0"/>
            <a:chExt cx="643859" cy="95228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3859" cy="952281"/>
            </a:xfrm>
            <a:custGeom>
              <a:avLst/>
              <a:gdLst/>
              <a:ahLst/>
              <a:cxnLst/>
              <a:rect l="l" t="t" r="r" b="b"/>
              <a:pathLst>
                <a:path w="643859" h="952281">
                  <a:moveTo>
                    <a:pt x="49734" y="0"/>
                  </a:moveTo>
                  <a:lnTo>
                    <a:pt x="594125" y="0"/>
                  </a:lnTo>
                  <a:cubicBezTo>
                    <a:pt x="621592" y="0"/>
                    <a:pt x="643859" y="22267"/>
                    <a:pt x="643859" y="49734"/>
                  </a:cubicBezTo>
                  <a:lnTo>
                    <a:pt x="643859" y="902547"/>
                  </a:lnTo>
                  <a:cubicBezTo>
                    <a:pt x="643859" y="930015"/>
                    <a:pt x="621592" y="952281"/>
                    <a:pt x="594125" y="952281"/>
                  </a:cubicBezTo>
                  <a:lnTo>
                    <a:pt x="49734" y="952281"/>
                  </a:lnTo>
                  <a:cubicBezTo>
                    <a:pt x="22267" y="952281"/>
                    <a:pt x="0" y="930015"/>
                    <a:pt x="0" y="902547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t="-176" b="-1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6509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DESIGN PRINCIPLES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1506200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Functional Requirements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2457450"/>
            <a:ext cx="5427383" cy="2332839"/>
            <a:chOff x="0" y="0"/>
            <a:chExt cx="7236511" cy="3110453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7236511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User Module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86"/>
              <a:ext cx="7236511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User Module facilitates user registration, authentication, and profile management, providing a seamless experience for customers to create and manage their accounts within the PORTKEY platform.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85970" y="5143500"/>
            <a:ext cx="5429080" cy="2332839"/>
            <a:chOff x="0" y="0"/>
            <a:chExt cx="7238774" cy="311045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Payment Module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86"/>
              <a:ext cx="7238774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Payment Module supports multiple payment methods, ensures PCI DSS compliance, and issues digital receipts, creating a secure and convenient payment experience for users ordering food.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39070" y="2457450"/>
            <a:ext cx="5429080" cy="2332839"/>
            <a:chOff x="0" y="0"/>
            <a:chExt cx="7238774" cy="311045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Restaurant Module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86"/>
              <a:ext cx="7238774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Restaurant Module enables users to browse, search, and filter through local restaurants, providing detailed menu information and recommendations to enhance the dining experience within the app.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39070" y="5143500"/>
            <a:ext cx="5429080" cy="2332839"/>
            <a:chOff x="0" y="0"/>
            <a:chExt cx="7238774" cy="311045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38774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Chatbot Module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2486"/>
              <a:ext cx="7238774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Chatbot Module, AI-powered Hedwig, provides 24/7 support by assisting with orders, answering queries, and offering personalized recommendations based on user preferences and location.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92170" y="2457450"/>
            <a:ext cx="5424446" cy="1980414"/>
            <a:chOff x="0" y="0"/>
            <a:chExt cx="7232595" cy="264055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9525"/>
              <a:ext cx="7232595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Order Module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52486"/>
              <a:ext cx="7232595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Order Module allows users to add items to their cart, validates stock availability, calculates total prices, and manages the order placement process for efficient food delivery.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INSIGHTS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4062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Non-Functional Requirements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3352800"/>
            <a:ext cx="6867355" cy="2168506"/>
            <a:chOff x="0" y="0"/>
            <a:chExt cx="9156474" cy="2891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15647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Performance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3275"/>
              <a:ext cx="91564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system is designed to ensure </a:t>
              </a:r>
              <a:r>
                <a:rPr lang="en-US" sz="2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optimal responsiveness</a:t>
              </a: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, achieving page load times of less than three seconds, even under high traffic conditions, supporting over 1000 concurrent users seamlessly.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52800"/>
            <a:ext cx="6886575" cy="2168506"/>
            <a:chOff x="0" y="0"/>
            <a:chExt cx="9182100" cy="28913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Security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By implementing </a:t>
              </a:r>
              <a:r>
                <a:rPr lang="en-US" sz="2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robust security measures</a:t>
              </a: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, including SHA-256 hashing and session management, we maintain data integrity and protect user information against unauthorized access and potential breaches.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CONSIDERATIONS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Development Practices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3352800"/>
            <a:ext cx="6867355" cy="2168506"/>
            <a:chOff x="0" y="0"/>
            <a:chExt cx="9156474" cy="2891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15647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Requirements Engineering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3275"/>
              <a:ext cx="91564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Requirements engineering involves gathering, analyzing, and documenting functional and non-functional requirements, ensuring alignment with stakeholders’ needs and project goals for successful implementation.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52800"/>
            <a:ext cx="6886575" cy="2168506"/>
            <a:chOff x="0" y="0"/>
            <a:chExt cx="9182100" cy="28913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MVC Design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 MVC design pattern promotes separation of concerns, allowing developers to manage application logic, user interface, and data efficiently, enhancing maintainability and scalability throughout the software lifecycle.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PRACTICES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&amp; Solutions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3352800"/>
            <a:ext cx="6867355" cy="2168506"/>
            <a:chOff x="0" y="0"/>
            <a:chExt cx="9156474" cy="2891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15647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Real-Time Stock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3275"/>
              <a:ext cx="91564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Implementing </a:t>
              </a:r>
              <a:r>
                <a:rPr lang="en-US" sz="2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real-time stock updates</a:t>
              </a: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required atomic database operations, ensuring accurate inventory levels. This minimizes order failures and enhances user confidence in product availability during peak demand.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52800"/>
            <a:ext cx="6886575" cy="2168506"/>
            <a:chOff x="0" y="0"/>
            <a:chExt cx="9182100" cy="28913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Payment Integration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Integrating multiple payment methods utilized an </a:t>
              </a:r>
              <a:r>
                <a:rPr lang="en-US" sz="2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adapter pattern</a:t>
              </a: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for seamless functionality. This approach ensured secure transactions while complying with PCI DSS standards, enhancing user trust and satisfaction.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934213"/>
            <a:ext cx="11201400" cy="1644650"/>
            <a:chOff x="0" y="0"/>
            <a:chExt cx="14935200" cy="2192867"/>
          </a:xfrm>
        </p:grpSpPr>
        <p:sp>
          <p:nvSpPr>
            <p:cNvPr id="3" name="TextBox 3"/>
            <p:cNvSpPr txBox="1"/>
            <p:nvPr/>
          </p:nvSpPr>
          <p:spPr>
            <a:xfrm>
              <a:off x="0" y="1771650"/>
              <a:ext cx="14935200" cy="421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200"/>
                </a:lnSpc>
              </a:pPr>
              <a:r>
                <a:rPr lang="en-US" sz="2000" u="none" strike="noStrike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Planned features to improve user experience and functionality.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4935200" cy="14234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99"/>
                </a:lnSpc>
              </a:pPr>
              <a:r>
                <a:rPr lang="en-US" sz="6999" b="1" spc="-6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Future Enhancements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Enhancements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990397"/>
            <a:chOff x="0" y="0"/>
            <a:chExt cx="11099800" cy="2653863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Mobile Apps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5796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Developing mobile applications will enhance user accessibility and convenience, allowing customers to order food seamlessly from their smartphones, improving overall engagement and satisfaction with the PORTKEY system.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65594"/>
            <a:ext cx="8324850" cy="1637972"/>
            <a:chOff x="0" y="0"/>
            <a:chExt cx="11099800" cy="2183963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GPS Tracking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65796"/>
              <a:ext cx="11099800" cy="1418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Integrating GPS tracking will provide real-time updates on order status and delivery locations, ensuring users can monitor their deliveries, enhancing transparency and trust in the service.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6038850"/>
            <a:ext cx="8324850" cy="1990397"/>
            <a:chOff x="0" y="0"/>
            <a:chExt cx="11099800" cy="26538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9050"/>
              <a:ext cx="110998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spc="-3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Advanced AI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65796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Implementing advanced AI features will improve the customer experience by offering personalized recommendations, enhancing chatbot interactions, and streamlining operations through intelligent analytics and decision-making processes.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NOTES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440897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Testing Strategies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85970" y="3352800"/>
            <a:ext cx="6867355" cy="2168506"/>
            <a:chOff x="0" y="0"/>
            <a:chExt cx="9156474" cy="2891342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"/>
              <a:ext cx="9156474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Unit Testing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003275"/>
              <a:ext cx="9156474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Unit testing ensures that individual components of the PORTKEY application function correctly, allowing developers to identify and fix issues early in the development cycle, enhancing overall software quality.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3352800"/>
            <a:ext cx="6886575" cy="2168506"/>
            <a:chOff x="0" y="0"/>
            <a:chExt cx="9182100" cy="28913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Integration Testing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Integration testing evaluates how different modules work together, ensuring seamless communication between the frontend, backend, and database, thus enhancing the reliability and performance of the PORTKEY system.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KEY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12925255" cy="107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Deployment Strategies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38200" y="2019300"/>
            <a:ext cx="9372600" cy="3962397"/>
            <a:chOff x="0" y="0"/>
            <a:chExt cx="9182100" cy="3361242"/>
          </a:xfrm>
        </p:grpSpPr>
        <p:sp>
          <p:nvSpPr>
            <p:cNvPr id="7" name="TextBox 7"/>
            <p:cNvSpPr txBox="1"/>
            <p:nvPr/>
          </p:nvSpPr>
          <p:spPr>
            <a:xfrm>
              <a:off x="0" y="-19050"/>
              <a:ext cx="9182100" cy="6286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00"/>
                </a:lnSpc>
              </a:pPr>
              <a:r>
                <a:rPr lang="en-US" sz="3000" b="1" u="none" strike="noStrike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CI/CD Pipeline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003275"/>
              <a:ext cx="9182100" cy="235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Implementing a CI/CD pipeline facilitates </a:t>
              </a:r>
              <a:r>
                <a:rPr lang="en-US" sz="2000" b="1" u="none" strike="noStrike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continuous integration</a:t>
              </a:r>
              <a:r>
                <a:rPr lang="en-US" sz="2000" u="none" strike="noStrike" dirty="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 and deployment, allowing rapid updates. This ensures that new features are consistently tested and delivered to enhance user experience and system reliability.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TECHNICAL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436838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396491"/>
            <a:ext cx="11201400" cy="2182373"/>
            <a:chOff x="0" y="-951733"/>
            <a:chExt cx="14935200" cy="2909830"/>
          </a:xfrm>
        </p:grpSpPr>
        <p:sp>
          <p:nvSpPr>
            <p:cNvPr id="3" name="TextBox 3"/>
            <p:cNvSpPr txBox="1"/>
            <p:nvPr/>
          </p:nvSpPr>
          <p:spPr>
            <a:xfrm>
              <a:off x="0" y="1559529"/>
              <a:ext cx="14935200" cy="3985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72"/>
                </a:lnSpc>
              </a:pPr>
              <a:r>
                <a:rPr lang="en-US" sz="1975" u="none" strike="noStrike" spc="-19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Collaborative efforts ensure project success and compliance standards.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1733"/>
              <a:ext cx="14935200" cy="12113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6501"/>
                </a:lnSpc>
              </a:pPr>
              <a:r>
                <a:rPr lang="en-US" sz="5910" b="1" spc="-59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Standards and Team Dynamics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6038850"/>
            <a:chOff x="0" y="0"/>
            <a:chExt cx="2161206" cy="7136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61206" cy="713648"/>
            </a:xfrm>
            <a:custGeom>
              <a:avLst/>
              <a:gdLst/>
              <a:ahLst/>
              <a:cxnLst/>
              <a:rect l="l" t="t" r="r" b="b"/>
              <a:pathLst>
                <a:path w="2161206" h="713648">
                  <a:moveTo>
                    <a:pt x="0" y="0"/>
                  </a:moveTo>
                  <a:lnTo>
                    <a:pt x="2161206" y="0"/>
                  </a:lnTo>
                  <a:lnTo>
                    <a:pt x="2161206" y="713648"/>
                  </a:lnTo>
                  <a:lnTo>
                    <a:pt x="0" y="713648"/>
                  </a:lnTo>
                  <a:close/>
                </a:path>
              </a:pathLst>
            </a:custGeom>
            <a:blipFill>
              <a:blip r:embed="rId2"/>
              <a:stretch>
                <a:fillRect t="-5268" b="-5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AutoShape 7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NOTES AND 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526744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7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970" y="647700"/>
            <a:ext cx="6867355" cy="205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700"/>
              </a:lnSpc>
            </a:pPr>
            <a:r>
              <a:rPr lang="en-US" sz="7000" b="1" u="none" strike="noStrike" spc="-7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Compliance Standards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96400" y="666750"/>
            <a:ext cx="8324850" cy="1980396"/>
            <a:chOff x="0" y="0"/>
            <a:chExt cx="11099800" cy="2640528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IEEE 830-1998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52461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This standard outlines requirements for software documentation, ensuring clear, consistent, and structured communication of requirements, enhancing project understanding and facilitating better development practices throughout the project lifecycle.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96400" y="2903617"/>
            <a:ext cx="8324850" cy="1980396"/>
            <a:chOff x="0" y="0"/>
            <a:chExt cx="11099800" cy="2640528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ISO/IEC 29148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752461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ISO/IEC 29148 focuses on requirements engineering, providing guidelines for managing requirements throughout the software lifecycle, thereby improving overall quality, traceability, and stakeholder satisfaction in software projects.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96400" y="5140484"/>
            <a:ext cx="8324850" cy="1980396"/>
            <a:chOff x="0" y="0"/>
            <a:chExt cx="11099800" cy="2640528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11099800" cy="605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258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W3C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752461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spc="-2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W3C standards promote web accessibility and interoperability, ensuring that web technologies are developed with universal design principles, making applications usable by people with diverse abilities and across various platforms.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96400" y="7377351"/>
            <a:ext cx="8324850" cy="1980872"/>
            <a:chOff x="0" y="0"/>
            <a:chExt cx="11099800" cy="264116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38100"/>
              <a:ext cx="11099800" cy="635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54"/>
                </a:lnSpc>
              </a:pPr>
              <a:r>
                <a:rPr lang="en-US" sz="2962" b="1" spc="-29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PCI DSS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53096"/>
              <a:ext cx="11099800" cy="18880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PCI DSS establishes rigorous security measures for payment data, mandating that organizations handling credit card transactions enhance their security protocols, thereby protecting consumer information and reducing fraud risks.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66750" y="9620250"/>
            <a:ext cx="1695450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666750" y="9676455"/>
            <a:ext cx="2571750" cy="2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spc="-12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ADDITIONAL STANDARDS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438665" y="9676442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r">
              <a:lnSpc>
                <a:spcPts val="1679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1763</Words>
  <Application>Microsoft Office PowerPoint</Application>
  <PresentationFormat>Custom</PresentationFormat>
  <Paragraphs>202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Telegraf</vt:lpstr>
      <vt:lpstr>Telegraf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Food Delivery System</dc:title>
  <dc:creator>Princita Zina Miranda</dc:creator>
  <dc:description>Presentation - Food Delivery System</dc:description>
  <cp:lastModifiedBy>Princita Zina Miranda</cp:lastModifiedBy>
  <cp:revision>3</cp:revision>
  <dcterms:created xsi:type="dcterms:W3CDTF">2006-08-16T00:00:00Z</dcterms:created>
  <dcterms:modified xsi:type="dcterms:W3CDTF">2025-10-28T03:25:42Z</dcterms:modified>
  <dc:identifier>DAG3CMLHgXg</dc:identifier>
</cp:coreProperties>
</file>